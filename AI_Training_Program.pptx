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Program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to Practitioner — A 16-Week Roadmap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92608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65960" y="292608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29260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292608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9260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292608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9260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292608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9260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18120" y="292608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9260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1920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84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2920" y="4005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3566160"/>
            <a:ext cx="1920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584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651760" y="4005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566160"/>
            <a:ext cx="1920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584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800600" y="4005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3566160"/>
            <a:ext cx="1920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584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949440" y="4005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914400"/>
            <a:ext cx="164592" cy="164592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280160" cy="3200400"/>
          </a:xfrm>
          <a:prstGeom prst="rect">
            <a:avLst/>
          </a:prstGeom>
          <a:solidFill>
            <a:srgbClr val="EAF3D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320040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716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Foundations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14884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914400"/>
            <a:ext cx="164592" cy="16459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1280160"/>
            <a:ext cx="1280160" cy="3200400"/>
          </a:xfrm>
          <a:prstGeom prst="rect">
            <a:avLst/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280160"/>
            <a:ext cx="73152" cy="32004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8528" y="13716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38528" y="162763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ML / DL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38528" y="214884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94760" y="914400"/>
            <a:ext cx="164592" cy="164592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280160"/>
            <a:ext cx="1280160" cy="3200400"/>
          </a:xfrm>
          <a:prstGeom prst="rect">
            <a:avLst/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1280160"/>
            <a:ext cx="73152" cy="320040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3716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162763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214884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66360" y="914400"/>
            <a:ext cx="164592" cy="16459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280160"/>
            <a:ext cx="1280160" cy="3200400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1280160"/>
            <a:ext cx="73152" cy="32004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13716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81728" y="162763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81728" y="214884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10–12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37960" y="914400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1280160"/>
            <a:ext cx="1280160" cy="320040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1280160"/>
            <a:ext cx="73152" cy="32004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13716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53328" y="162763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Deployment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53328" y="214884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13–14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909560" y="914400"/>
            <a:ext cx="164592" cy="16459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0" y="1280160"/>
            <a:ext cx="1280160" cy="3200400"/>
          </a:xfrm>
          <a:prstGeom prst="rect">
            <a:avLst/>
          </a:prstGeom>
          <a:solidFill>
            <a:srgbClr val="FCEBEB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0" y="1280160"/>
            <a:ext cx="73152" cy="32004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24928" y="13716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24928" y="162763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24928" y="214884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15–16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" y="594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" y="1627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–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210312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21396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" y="2322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288036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2916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30998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&amp; File Handling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" y="365760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369417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" y="387705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GitHub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2004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—  Python Fundamentals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34640" y="649224"/>
            <a:ext cx="5943600" cy="0"/>
          </a:xfrm>
          <a:prstGeom prst="line">
            <a:avLst/>
          </a:prstGeom>
          <a:noFill/>
          <a:ln w="6350">
            <a:solidFill>
              <a:srgbClr val="639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72237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72237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variables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06440" y="72237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72237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dicts, tuples, sets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103327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103327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conditionals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06440" y="103327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03327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scope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130759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EAF3D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130759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Project: number guessing game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34640" y="150876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—  OOP &amp; File Handling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834640" y="1837944"/>
            <a:ext cx="5943600" cy="0"/>
          </a:xfrm>
          <a:prstGeom prst="line">
            <a:avLst/>
          </a:prstGeom>
          <a:noFill/>
          <a:ln w="6350">
            <a:solidFill>
              <a:srgbClr val="639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4640" y="191109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191109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06440" y="191109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91109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polymorphism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34640" y="222199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222199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files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06440" y="222199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22199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&amp; JSON handling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34640" y="249631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EAF3D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249631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Project: student grade manager (OOP)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834640" y="269748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—  SQL &amp; GitHub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834640" y="3026664"/>
            <a:ext cx="5943600" cy="0"/>
          </a:xfrm>
          <a:prstGeom prst="line">
            <a:avLst/>
          </a:prstGeom>
          <a:noFill/>
          <a:ln w="6350">
            <a:solidFill>
              <a:srgbClr val="6399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34640" y="309981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309981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WHERE, JOIN, GROUP BY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06440" y="309981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309981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&amp; subqueries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34640" y="341071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0" y="341071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with Python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06440" y="341071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97880" y="341071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push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34640" y="368503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EAF3D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0" y="368503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Project: push all Python code to GitHub repo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Phase 2 — ML Prerequisites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2–3 focused days before Week 4 to cover these foundational libraries and concepts.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73152" cy="8229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810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084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vectorised ops, broadcasting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7373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737360"/>
            <a:ext cx="73152" cy="8229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810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2084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DataFrames, groupby, merging, cleaning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43200"/>
            <a:ext cx="73152" cy="8229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816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3090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scatter, bar charts; heatmaps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743200"/>
            <a:ext cx="73152" cy="8229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816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65192" y="3090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preprocessing, model 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49040"/>
            <a:ext cx="73152" cy="8229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822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Statistics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" y="4096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 dev, normal distribution, correlation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7490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749040"/>
            <a:ext cx="73152" cy="8229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3822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Learn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65192" y="4096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micro-courses — highly recommended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" y="594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" y="1627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 –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210312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21396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" y="2322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&amp; Unsupervised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288036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2916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30998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Clustering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" y="365760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369417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&amp; 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" y="387705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Nets, CNN &amp; RNN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2004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—  Supervised &amp; Unsupervised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34640" y="649224"/>
            <a:ext cx="5943600" cy="0"/>
          </a:xfrm>
          <a:prstGeom prst="line">
            <a:avLst/>
          </a:prstGeom>
          <a:noFill/>
          <a:ln w="6350">
            <a:solidFill>
              <a:srgbClr val="378A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72237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72237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concepts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06440" y="72237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72237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concepts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103327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103327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06440" y="103327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03327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130759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130759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Project: Iris / Titanic dataset exploration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34640" y="150876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—  Regression &amp; Clustering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834640" y="1837944"/>
            <a:ext cx="5943600" cy="0"/>
          </a:xfrm>
          <a:prstGeom prst="line">
            <a:avLst/>
          </a:prstGeom>
          <a:noFill/>
          <a:ln w="6350">
            <a:solidFill>
              <a:srgbClr val="378A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4640" y="191109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191109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06440" y="191109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91109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34640" y="222199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222199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06440" y="222199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22199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Housing / Mall Customers data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34640" y="249631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249631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Project: house price predictor + customer segmentation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834640" y="269748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&amp; 7  —  Neural Nets, CNN &amp; RNN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834640" y="3026664"/>
            <a:ext cx="5943600" cy="0"/>
          </a:xfrm>
          <a:prstGeom prst="line">
            <a:avLst/>
          </a:prstGeom>
          <a:noFill/>
          <a:ln w="6350">
            <a:solidFill>
              <a:srgbClr val="378A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34640" y="309981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309981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Perceptron, MLP, backprop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06440" y="309981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309981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— image classification (CIFAR-10)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34640" y="341071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0" y="341071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 architecture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06440" y="341071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97880" y="341071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forecasting (Yahoo Finance)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34640" y="368503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0" y="368503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Project: MNIST classifier + LSTM stock forecaster (finance usecase)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" y="594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" y="1627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 –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210312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21396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" y="2322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&amp;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288036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2916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30998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&amp; Embeddings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32004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—  Attention &amp; Architecture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649224"/>
            <a:ext cx="5943600" cy="0"/>
          </a:xfrm>
          <a:prstGeom prst="line">
            <a:avLst/>
          </a:prstGeom>
          <a:noFill/>
          <a:ln w="6350">
            <a:solidFill>
              <a:srgbClr val="7F77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72237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EEDFE"/>
          </a:solidFill>
          <a:ln w="12700">
            <a:solidFill>
              <a:srgbClr val="CECB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72237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mechanism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72237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EEDFE"/>
          </a:solidFill>
          <a:ln w="12700">
            <a:solidFill>
              <a:srgbClr val="CECB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72237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103327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EEDFE"/>
          </a:solidFill>
          <a:ln w="12700">
            <a:solidFill>
              <a:srgbClr val="CECB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103327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 structure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06440" y="103327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EEDFE"/>
          </a:solidFill>
          <a:ln w="12700">
            <a:solidFill>
              <a:srgbClr val="CECB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03327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&amp; GPT overview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34640" y="130759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130759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Project: sentiment analysis with BERT (HuggingFace)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34640" y="150876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 —  Fine-tuning &amp; Embeddings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34640" y="1837944"/>
            <a:ext cx="5943600" cy="0"/>
          </a:xfrm>
          <a:prstGeom prst="line">
            <a:avLst/>
          </a:prstGeom>
          <a:noFill/>
          <a:ln w="6350">
            <a:solidFill>
              <a:srgbClr val="7F77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4640" y="191109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EEDFE"/>
          </a:solidFill>
          <a:ln w="12700">
            <a:solidFill>
              <a:srgbClr val="CECB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191109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pretrained models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191109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EEDFE"/>
          </a:solidFill>
          <a:ln w="12700">
            <a:solidFill>
              <a:srgbClr val="CECB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91109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vector search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222199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EEDFE"/>
          </a:solidFill>
          <a:ln w="12700">
            <a:solidFill>
              <a:srgbClr val="CECB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222199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deep-dive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06440" y="222199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EEDFE"/>
          </a:solidFill>
          <a:ln w="12700">
            <a:solidFill>
              <a:srgbClr val="CECB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22199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benchmarking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834640" y="249631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249631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Project: fine-tune BERT on custom text classification task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" y="594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" y="1627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 – 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210312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21396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" y="2322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288036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2916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30998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&amp; Chatbot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" y="365760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369417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" y="387705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2004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 —  Prompt Engineering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34640" y="649224"/>
            <a:ext cx="5943600" cy="0"/>
          </a:xfrm>
          <a:prstGeom prst="line">
            <a:avLst/>
          </a:prstGeom>
          <a:noFill/>
          <a:ln w="6350">
            <a:solidFill>
              <a:srgbClr val="BA75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72237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72237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&amp; few-shot prompting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06440" y="72237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72237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103327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103327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&amp; templates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06440" y="103327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03327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evaluation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130759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130759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Project: prompt engineering playground &amp; evaluator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34640" y="150876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 —  Tool Calling &amp; Chatbot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834640" y="1837944"/>
            <a:ext cx="5943600" cy="0"/>
          </a:xfrm>
          <a:prstGeom prst="line">
            <a:avLst/>
          </a:prstGeom>
          <a:noFill/>
          <a:ln w="6350">
            <a:solidFill>
              <a:srgbClr val="BA75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4640" y="191109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191109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/ tool calling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06440" y="191109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91109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34640" y="222199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222199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— buffer, summary, vector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06440" y="222199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22199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state management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34640" y="249631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249631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Project: 1-class chatbot with full memory handling (LangChain)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834640" y="269748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—  RAG Pipeline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834640" y="3026664"/>
            <a:ext cx="5943600" cy="0"/>
          </a:xfrm>
          <a:prstGeom prst="line">
            <a:avLst/>
          </a:prstGeom>
          <a:noFill/>
          <a:ln w="6350">
            <a:solidFill>
              <a:srgbClr val="BA751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34640" y="309981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309981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(ChromaDB)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06440" y="309981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309981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34640" y="341071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0" y="341071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reranking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06440" y="341071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97880" y="341071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RAG app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34640" y="368503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0" y="368503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Project: RAG chatbot over a PDF knowledge base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" y="594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" y="1627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 – 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210312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21396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" y="2322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288036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2916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30998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DevOps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32004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 —  FastAPI Fundamentals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649224"/>
            <a:ext cx="5943600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72237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72237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72237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72237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request &amp; response models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103327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103327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06440" y="103327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03327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endpoints + Swagger UI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34640" y="130759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130759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Project: wrap the RAG chatbot in a FastAPI backend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34640" y="150876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 —  Deployment &amp; DevOps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34640" y="1837944"/>
            <a:ext cx="5943600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4640" y="191109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191109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basics &amp; containerization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191109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91109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&amp; secrets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222199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222199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Render / Railway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06440" y="222199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22199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GitHub Actions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834640" y="249631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249631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Project: deployed, live chatbot with a public URL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C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" y="594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" y="1627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C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15 – 16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210312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21396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C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" y="2322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 &amp; Tools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2880360"/>
            <a:ext cx="2286000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2916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C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30998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&amp; Capstone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32004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 —  Agent Architecture &amp; Tools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649224"/>
            <a:ext cx="5943600" cy="0"/>
          </a:xfrm>
          <a:prstGeom prst="line">
            <a:avLst/>
          </a:prstGeom>
          <a:noFill/>
          <a:ln w="6350">
            <a:solidFill>
              <a:srgbClr val="E24B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72237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72237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agents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72237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72237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 — reason + 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103327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103327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function calling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06440" y="103327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03327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memory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34640" y="130759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FCEBEB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130759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Project: research agent with web search + summarization tools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34640" y="150876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  —  Multi-Agent &amp; Capstone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34640" y="1837944"/>
            <a:ext cx="5943600" cy="0"/>
          </a:xfrm>
          <a:prstGeom prst="line">
            <a:avLst/>
          </a:prstGeom>
          <a:noFill/>
          <a:ln w="6350">
            <a:solidFill>
              <a:srgbClr val="E24B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4640" y="191109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191109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1911096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91109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evaluation &amp; safety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222199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222199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patterns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06440" y="2221992"/>
            <a:ext cx="2834640" cy="246888"/>
          </a:xfrm>
          <a:prstGeom prst="roundRect">
            <a:avLst>
              <a:gd name="adj" fmla="val 18519"/>
            </a:avLst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22199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planning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834640" y="2496312"/>
            <a:ext cx="5943600" cy="201168"/>
          </a:xfrm>
          <a:prstGeom prst="roundRect">
            <a:avLst>
              <a:gd name="adj" fmla="val 27273"/>
            </a:avLst>
          </a:prstGeom>
          <a:solidFill>
            <a:srgbClr val="FCEBEB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249631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Capstone: deployed multi-tool AI agent — end-to-end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build.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 basics to a live AI agent in 16 weeks.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40233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423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 repo with all Python projects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00600" y="2423160"/>
            <a:ext cx="40233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0328" y="2423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LSTM stock forecaster (finance usecase)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40233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Fine-tuned BERT text classifier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3017520"/>
            <a:ext cx="40233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RAG chatbot with memory + tool calling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40233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611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Deployed FastAPI chatbot — live URL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3611880"/>
            <a:ext cx="40233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3611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Multi-tool AI agent — capstone project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Training Program — Beginner to Practitioner</dc:title>
  <dc:subject>PptxGenJS Presentation</dc:subject>
  <dc:creator>PptxGenJS</dc:creator>
  <cp:lastModifiedBy>PptxGenJS</cp:lastModifiedBy>
  <cp:revision>1</cp:revision>
  <dcterms:created xsi:type="dcterms:W3CDTF">2026-05-10T04:29:29Z</dcterms:created>
  <dcterms:modified xsi:type="dcterms:W3CDTF">2026-05-10T04:29:29Z</dcterms:modified>
</cp:coreProperties>
</file>